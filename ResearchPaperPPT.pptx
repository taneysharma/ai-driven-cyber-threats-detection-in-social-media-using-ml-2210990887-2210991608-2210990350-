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4"/>
  </p:notesMasterIdLst>
  <p:handoutMasterIdLst>
    <p:handoutMasterId r:id="rId15"/>
  </p:handoutMasterIdLst>
  <p:sldIdLst>
    <p:sldId id="256" r:id="rId5"/>
    <p:sldId id="257" r:id="rId6"/>
    <p:sldId id="269" r:id="rId7"/>
    <p:sldId id="270" r:id="rId8"/>
    <p:sldId id="274" r:id="rId9"/>
    <p:sldId id="271" r:id="rId10"/>
    <p:sldId id="272" r:id="rId11"/>
    <p:sldId id="273"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77E6F7-DC3F-E8F8-07D8-6107AA2F5140}" v="7" dt="2026-05-15T06:15:27.160"/>
    <p1510:client id="{EB233BB4-456C-DE36-500F-8E6E61C46D99}" v="82" dt="2026-05-14T06:24:08.0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98" autoAdjust="0"/>
    <p:restoredTop sz="94660"/>
  </p:normalViewPr>
  <p:slideViewPr>
    <p:cSldViewPr snapToGrid="0">
      <p:cViewPr varScale="1">
        <p:scale>
          <a:sx n="78" d="100"/>
          <a:sy n="78" d="100"/>
        </p:scale>
        <p:origin x="1675"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5/14/2026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5/14/2026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4891575"/>
          </a:xfrm>
          <a:prstGeom prst="rect">
            <a:avLst/>
          </a:prstGeom>
          <a:noFill/>
          <a:ln w="9360">
            <a:noFill/>
          </a:ln>
        </p:spPr>
        <p:txBody>
          <a:bodyPr lIns="91440" tIns="45720" rIns="91440" bIns="45720" anchor="t">
            <a:noAutofit/>
          </a:bodyPr>
          <a:lstStyle/>
          <a:p>
            <a:pPr algn="ctr">
              <a:lnSpc>
                <a:spcPct val="100000"/>
              </a:lnSpc>
              <a:spcBef>
                <a:spcPts val="400"/>
              </a:spcBef>
            </a:pPr>
            <a:r>
              <a:rPr lang="en-IN" b="1" dirty="0">
                <a:latin typeface="Times New Roman"/>
                <a:ea typeface="Calibri"/>
                <a:cs typeface="Times New Roman"/>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r>
              <a:rPr lang="en-US" b="1" dirty="0">
                <a:latin typeface="Times New Roman"/>
                <a:cs typeface="Times New Roman"/>
              </a:rPr>
              <a:t>              </a:t>
            </a:r>
            <a:r>
              <a:rPr lang="en-US" b="1" dirty="0">
                <a:ea typeface="+mn-lt"/>
                <a:cs typeface="+mn-lt"/>
              </a:rPr>
              <a:t>AI-Driven Cyber Threat Detection in Social Media </a:t>
            </a:r>
          </a:p>
          <a:p>
            <a:pPr algn="ctr"/>
            <a:r>
              <a:rPr lang="en-US" b="1" dirty="0">
                <a:ea typeface="+mn-lt"/>
                <a:cs typeface="+mn-lt"/>
              </a:rPr>
              <a:t> Using Machine Learning</a:t>
            </a:r>
          </a:p>
          <a:p>
            <a:pPr algn="ctr"/>
            <a:endParaRPr lang="en-IN" b="1" dirty="0">
              <a:solidFill>
                <a:srgbClr val="000000"/>
              </a:solidFill>
              <a:latin typeface="Times New Roman"/>
              <a:ea typeface="MS PGothic"/>
              <a:cs typeface="Times New Roman"/>
            </a:endParaRPr>
          </a:p>
          <a:p>
            <a:pPr algn="ctr">
              <a:spcBef>
                <a:spcPts val="400"/>
              </a:spcBef>
            </a:pPr>
            <a:r>
              <a:rPr lang="en-US" sz="2000" spc="-1">
                <a:solidFill>
                  <a:srgbClr val="000000"/>
                </a:solidFill>
                <a:latin typeface="Times New Roman"/>
                <a:ea typeface="MS PGothic"/>
                <a:cs typeface="Times New Roman"/>
              </a:rPr>
              <a:t>Taney Sharma (2210990887)</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Hardil Chugh (2210991608)</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Gursimran Kaur (2210990350)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Gurpreet Singh </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097280" y="0"/>
            <a:ext cx="491744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3" name="TextShape 2">
            <a:extLst>
              <a:ext uri="{FF2B5EF4-FFF2-40B4-BE49-F238E27FC236}">
                <a16:creationId xmlns:a16="http://schemas.microsoft.com/office/drawing/2014/main" id="{507ECFC7-C99E-F440-EB2B-CF3DCECADF19}"/>
              </a:ext>
            </a:extLst>
          </p:cNvPr>
          <p:cNvSpPr txBox="1"/>
          <p:nvPr/>
        </p:nvSpPr>
        <p:spPr>
          <a:xfrm>
            <a:off x="163489" y="831347"/>
            <a:ext cx="8615794" cy="4939212"/>
          </a:xfrm>
          <a:prstGeom prst="rect">
            <a:avLst/>
          </a:prstGeom>
          <a:noFill/>
          <a:ln w="9360">
            <a:noFill/>
          </a:ln>
        </p:spPr>
        <p:txBody>
          <a:bodyPr lIns="91440" tIns="45720" rIns="91440" bIns="4572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r>
              <a:rPr lang="en-US">
                <a:ea typeface="+mn-lt"/>
                <a:cs typeface="+mn-lt"/>
              </a:rPr>
              <a:t>Cyber threats on social media platforms have become a major concern in today’s digital world. Platforms like Twitter, Facebook, and Reddit are widely used for communication, but they are also increasingly targeted by malicious activities such as phishing, misinformation campaigns, identity theft, and bot attacks. These threats spread rapidly due to the large volume and real-time nature of social media data.</a:t>
            </a:r>
          </a:p>
          <a:p>
            <a:pPr algn="just"/>
            <a:r>
              <a:rPr lang="en-US" dirty="0">
                <a:ea typeface="+mn-lt"/>
                <a:cs typeface="+mn-lt"/>
              </a:rPr>
              <a:t>Traditional cybersecurity methods are not efficient in handling such large-scale dynamic data and often fail to detect modern cyber threats accurately. Therefore, there is a growing need for intelligent systems that can analyze social media content in real time. This research focuses on developing an AI-based solution using machine learning, natural language processing, and deep learning techniques to improve cyber threat detection.</a:t>
            </a:r>
          </a:p>
          <a:p>
            <a:pPr marL="139700" lvl="0">
              <a:buSzPts val="1400"/>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a:extLst>
              <a:ext uri="{FF2B5EF4-FFF2-40B4-BE49-F238E27FC236}">
                <a16:creationId xmlns:a16="http://schemas.microsoft.com/office/drawing/2014/main" id="{5D8FBCB7-BA4E-5F74-D238-684EFDFD018D}"/>
              </a:ext>
            </a:extLst>
          </p:cNvPr>
          <p:cNvSpPr txBox="1">
            <a:spLocks noGrp="1"/>
          </p:cNvSpPr>
          <p:nvPr>
            <p:ph type="title"/>
          </p:nvPr>
        </p:nvSpPr>
        <p:spPr>
          <a:xfrm>
            <a:off x="950913" y="0"/>
            <a:ext cx="5185727" cy="84328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BD39386-6742-712B-1B7B-9E1191A8A495}"/>
              </a:ext>
            </a:extLst>
          </p:cNvPr>
          <p:cNvSpPr txBox="1"/>
          <p:nvPr/>
        </p:nvSpPr>
        <p:spPr>
          <a:xfrm>
            <a:off x="219853" y="1185066"/>
            <a:ext cx="8757743" cy="351571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just"/>
            <a:r>
              <a:rPr lang="en-US" dirty="0">
                <a:ea typeface="+mn-lt"/>
                <a:cs typeface="+mn-lt"/>
              </a:rPr>
              <a:t>Despite advancements in cybersecurity, existing systems face significant challenges in detecting threats on social media platforms. Traditional approaches are limited in scalability and struggle to process large volumes of real-time data. Additionally, cyber threats are constantly evolving, making it difficult for static models to maintain accuracy over time.</a:t>
            </a:r>
          </a:p>
          <a:p>
            <a:pPr algn="just"/>
            <a:r>
              <a:rPr lang="en-US" dirty="0">
                <a:ea typeface="+mn-lt"/>
                <a:cs typeface="+mn-lt"/>
              </a:rPr>
              <a:t>Another major issue is the high rate of false positives, where normal user activities are incorrectly flagged as threats. Furthermore, different social media platforms have varying data formats and user behaviors, making it difficult to design a unified detection system. Therefore, the main problem addressed in this research is to develop an efficient, scalable, and accurate system capable of detecting cyber threats in real-time social media environments. </a:t>
            </a:r>
          </a:p>
          <a:p>
            <a:pPr algn="just"/>
            <a:endParaRPr lang="en-US" dirty="0"/>
          </a:p>
        </p:txBody>
      </p:sp>
    </p:spTree>
    <p:extLst>
      <p:ext uri="{BB962C8B-B14F-4D97-AF65-F5344CB8AC3E}">
        <p14:creationId xmlns:p14="http://schemas.microsoft.com/office/powerpoint/2010/main" val="2075460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CBCC7-5F80-9E78-EDB5-AD536ADFEA04}"/>
              </a:ext>
            </a:extLst>
          </p:cNvPr>
          <p:cNvSpPr>
            <a:spLocks noGrp="1"/>
          </p:cNvSpPr>
          <p:nvPr>
            <p:ph type="title"/>
          </p:nvPr>
        </p:nvSpPr>
        <p:spPr>
          <a:xfrm>
            <a:off x="975360" y="0"/>
            <a:ext cx="5486040" cy="914040"/>
          </a:xfrm>
        </p:spPr>
        <p:txBody>
          <a:bodyPr/>
          <a:lstStyle/>
          <a:p>
            <a:r>
              <a:rPr lang="en-IN" dirty="0"/>
              <a:t>         </a:t>
            </a:r>
          </a:p>
        </p:txBody>
      </p:sp>
      <p:sp>
        <p:nvSpPr>
          <p:cNvPr id="4" name="TextShape 1">
            <a:extLst>
              <a:ext uri="{FF2B5EF4-FFF2-40B4-BE49-F238E27FC236}">
                <a16:creationId xmlns:a16="http://schemas.microsoft.com/office/drawing/2014/main" id="{D86A46AE-F7EC-FFFE-7029-C75AAF55E53B}"/>
              </a:ext>
            </a:extLst>
          </p:cNvPr>
          <p:cNvSpPr txBox="1">
            <a:spLocks/>
          </p:cNvSpPr>
          <p:nvPr/>
        </p:nvSpPr>
        <p:spPr>
          <a:xfrm>
            <a:off x="866072" y="-360"/>
            <a:ext cx="5486400" cy="823320"/>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Objective</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D63D556-7866-CE79-6D3C-5E5A21A03229}"/>
              </a:ext>
            </a:extLst>
          </p:cNvPr>
          <p:cNvSpPr txBox="1"/>
          <p:nvPr/>
        </p:nvSpPr>
        <p:spPr>
          <a:xfrm>
            <a:off x="144050" y="1157720"/>
            <a:ext cx="864593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The primary objective of this research is to develop an AI-based cyber threat detection system for social media platforms. The study aims to utilize machine learning, natural language processing (NLP), and deep learning techniques to identify threats such as phishing, misinformation, and malicious bot activity.</a:t>
            </a:r>
            <a:endParaRPr lang="en-US"/>
          </a:p>
          <a:p>
            <a:pPr algn="just"/>
            <a:r>
              <a:rPr lang="en-US" dirty="0">
                <a:ea typeface="+mn-lt"/>
                <a:cs typeface="+mn-lt"/>
              </a:rPr>
              <a:t>The research also focuses on improving detection accuracy by using advanced techniques like sentiment analysis, feature extraction, and anomaly detection. Another key objective is to ensure real-time performance by analyzing large-scale data efficiently and providing quick alerts. Additionally, the system is designed to reduce false positives and improve overall reliability, making it practical for real-world cybersecurity applications.</a:t>
            </a:r>
          </a:p>
          <a:p>
            <a:pPr algn="l"/>
            <a:endParaRPr lang="en-US" dirty="0"/>
          </a:p>
        </p:txBody>
      </p:sp>
    </p:spTree>
    <p:extLst>
      <p:ext uri="{BB962C8B-B14F-4D97-AF65-F5344CB8AC3E}">
        <p14:creationId xmlns:p14="http://schemas.microsoft.com/office/powerpoint/2010/main" val="2992028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B44EB-9C6A-90C5-CCCE-1C11DC4ED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E896E-629E-FF04-8F24-3A3016248BC8}"/>
              </a:ext>
            </a:extLst>
          </p:cNvPr>
          <p:cNvSpPr>
            <a:spLocks noGrp="1"/>
          </p:cNvSpPr>
          <p:nvPr>
            <p:ph type="title"/>
          </p:nvPr>
        </p:nvSpPr>
        <p:spPr>
          <a:xfrm>
            <a:off x="975360" y="0"/>
            <a:ext cx="5486040" cy="914040"/>
          </a:xfrm>
        </p:spPr>
        <p:txBody>
          <a:bodyPr/>
          <a:lstStyle/>
          <a:p>
            <a:r>
              <a:rPr lang="en-IN" dirty="0"/>
              <a:t>         </a:t>
            </a:r>
          </a:p>
        </p:txBody>
      </p:sp>
      <p:sp>
        <p:nvSpPr>
          <p:cNvPr id="4" name="TextShape 1">
            <a:extLst>
              <a:ext uri="{FF2B5EF4-FFF2-40B4-BE49-F238E27FC236}">
                <a16:creationId xmlns:a16="http://schemas.microsoft.com/office/drawing/2014/main" id="{AEDEF82D-2592-0EE7-56B7-0DE30D1089A3}"/>
              </a:ext>
            </a:extLst>
          </p:cNvPr>
          <p:cNvSpPr txBox="1">
            <a:spLocks/>
          </p:cNvSpPr>
          <p:nvPr/>
        </p:nvSpPr>
        <p:spPr>
          <a:xfrm>
            <a:off x="866072" y="-360"/>
            <a:ext cx="5486400" cy="823320"/>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a:cs typeface="Times New Roman"/>
              </a:rPr>
              <a:t>Technolo</a:t>
            </a:r>
            <a:r>
              <a:rPr lang="en" sz="3200" spc="-1">
                <a:solidFill>
                  <a:srgbClr val="000000"/>
                </a:solidFill>
                <a:latin typeface="Times New Roman"/>
                <a:cs typeface="Times New Roman"/>
              </a:rPr>
              <a:t>gies Used</a:t>
            </a:r>
            <a:endParaRPr lang="en" sz="3200" spc="-1" dirty="0">
              <a:solidFill>
                <a:srgbClr val="000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0DB151B-5B26-2DE9-2A8B-64E06613398D}"/>
              </a:ext>
            </a:extLst>
          </p:cNvPr>
          <p:cNvSpPr txBox="1"/>
          <p:nvPr/>
        </p:nvSpPr>
        <p:spPr>
          <a:xfrm>
            <a:off x="144050" y="1157720"/>
            <a:ext cx="864593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ea typeface="+mn-lt"/>
                <a:cs typeface="+mn-lt"/>
              </a:rPr>
              <a:t>Python  language</a:t>
            </a:r>
            <a:endParaRPr lang="en-US" dirty="0"/>
          </a:p>
          <a:p>
            <a:pPr algn="just"/>
            <a:r>
              <a:rPr lang="en-US" b="1"/>
              <a:t>Machine Learning &amp; AI</a:t>
            </a:r>
            <a:endParaRPr lang="en-US"/>
          </a:p>
          <a:p>
            <a:pPr marL="285750" indent="-285750" algn="just">
              <a:buFont typeface="Arial"/>
              <a:buChar char="•"/>
            </a:pPr>
            <a:r>
              <a:rPr lang="en-US">
                <a:ea typeface="+mn-lt"/>
                <a:cs typeface="+mn-lt"/>
              </a:rPr>
              <a:t>Machine Learning </a:t>
            </a:r>
            <a:endParaRPr lang="en-US"/>
          </a:p>
          <a:p>
            <a:pPr marL="285750" indent="-285750" algn="just">
              <a:buFont typeface="Arial"/>
              <a:buChar char="•"/>
            </a:pPr>
            <a:r>
              <a:rPr lang="en-US">
                <a:ea typeface="+mn-lt"/>
                <a:cs typeface="+mn-lt"/>
              </a:rPr>
              <a:t>Deep Learning </a:t>
            </a:r>
            <a:endParaRPr lang="en-US"/>
          </a:p>
          <a:p>
            <a:pPr marL="285750" indent="-285750" algn="just">
              <a:buFont typeface="Arial"/>
              <a:buChar char="•"/>
            </a:pPr>
            <a:r>
              <a:rPr lang="en-US">
                <a:ea typeface="+mn-lt"/>
                <a:cs typeface="+mn-lt"/>
              </a:rPr>
              <a:t>NLP (Natural Language Processing) </a:t>
            </a:r>
            <a:endParaRPr lang="en-US"/>
          </a:p>
          <a:p>
            <a:pPr algn="just"/>
            <a:r>
              <a:rPr lang="en-US" b="1"/>
              <a:t>Models Used</a:t>
            </a:r>
          </a:p>
          <a:p>
            <a:pPr marL="285750" indent="-285750" algn="just">
              <a:buFont typeface="Arial"/>
              <a:buChar char="•"/>
            </a:pPr>
            <a:r>
              <a:rPr lang="en-US">
                <a:ea typeface="+mn-lt"/>
                <a:cs typeface="+mn-lt"/>
              </a:rPr>
              <a:t>Random Forest </a:t>
            </a:r>
            <a:endParaRPr lang="en-US"/>
          </a:p>
          <a:p>
            <a:pPr marL="285750" indent="-285750" algn="just">
              <a:buFont typeface="Arial"/>
              <a:buChar char="•"/>
            </a:pPr>
            <a:r>
              <a:rPr lang="en-US">
                <a:ea typeface="+mn-lt"/>
                <a:cs typeface="+mn-lt"/>
              </a:rPr>
              <a:t>Gradient Boosting </a:t>
            </a:r>
            <a:endParaRPr lang="en-US"/>
          </a:p>
          <a:p>
            <a:pPr marL="285750" indent="-285750" algn="just">
              <a:buFont typeface="Arial"/>
              <a:buChar char="•"/>
            </a:pPr>
            <a:r>
              <a:rPr lang="en-US" dirty="0" err="1">
                <a:ea typeface="+mn-lt"/>
                <a:cs typeface="+mn-lt"/>
              </a:rPr>
              <a:t>BiLSTM</a:t>
            </a:r>
            <a:r>
              <a:rPr lang="en-US" dirty="0">
                <a:ea typeface="+mn-lt"/>
                <a:cs typeface="+mn-lt"/>
              </a:rPr>
              <a:t> </a:t>
            </a:r>
            <a:endParaRPr lang="en-US" dirty="0"/>
          </a:p>
          <a:p>
            <a:pPr marL="285750" indent="-285750" algn="just">
              <a:buFont typeface="Arial"/>
              <a:buChar char="•"/>
            </a:pPr>
            <a:r>
              <a:rPr lang="en-US">
                <a:ea typeface="+mn-lt"/>
                <a:cs typeface="+mn-lt"/>
              </a:rPr>
              <a:t>BERT </a:t>
            </a:r>
            <a:endParaRPr lang="en-US"/>
          </a:p>
          <a:p>
            <a:pPr algn="just"/>
            <a:r>
              <a:rPr lang="en-US" b="1"/>
              <a:t>Libraries &amp; Frameworks</a:t>
            </a:r>
          </a:p>
          <a:p>
            <a:pPr marL="285750" indent="-285750" algn="just">
              <a:buFont typeface="Arial"/>
              <a:buChar char="•"/>
            </a:pPr>
            <a:r>
              <a:rPr lang="en-US">
                <a:ea typeface="+mn-lt"/>
                <a:cs typeface="+mn-lt"/>
              </a:rPr>
              <a:t>TensorFlow </a:t>
            </a:r>
            <a:endParaRPr lang="en-US"/>
          </a:p>
          <a:p>
            <a:pPr marL="285750" indent="-285750" algn="just">
              <a:buFont typeface="Arial"/>
              <a:buChar char="•"/>
            </a:pPr>
            <a:r>
              <a:rPr lang="en-US">
                <a:ea typeface="+mn-lt"/>
                <a:cs typeface="+mn-lt"/>
              </a:rPr>
              <a:t>Scikit-learn </a:t>
            </a:r>
            <a:endParaRPr lang="en-US"/>
          </a:p>
          <a:p>
            <a:pPr marL="285750" indent="-285750" algn="just">
              <a:buFont typeface="Arial"/>
              <a:buChar char="•"/>
            </a:pPr>
            <a:r>
              <a:rPr lang="en-US">
                <a:ea typeface="+mn-lt"/>
                <a:cs typeface="+mn-lt"/>
              </a:rPr>
              <a:t>Pandas </a:t>
            </a:r>
            <a:endParaRPr lang="en-US"/>
          </a:p>
          <a:p>
            <a:pPr marL="285750" indent="-285750" algn="just">
              <a:buFont typeface="Arial"/>
              <a:buChar char="•"/>
            </a:pPr>
            <a:r>
              <a:rPr lang="en-US">
                <a:ea typeface="+mn-lt"/>
                <a:cs typeface="+mn-lt"/>
              </a:rPr>
              <a:t>NumPy </a:t>
            </a:r>
            <a:endParaRPr lang="en-US"/>
          </a:p>
          <a:p>
            <a:pPr algn="just"/>
            <a:r>
              <a:rPr lang="en-US" b="1"/>
              <a:t>Detection Techniques</a:t>
            </a:r>
          </a:p>
          <a:p>
            <a:pPr marL="285750" indent="-285750" algn="just">
              <a:buFont typeface="Arial"/>
              <a:buChar char="•"/>
            </a:pPr>
            <a:r>
              <a:rPr lang="en-US">
                <a:ea typeface="+mn-lt"/>
                <a:cs typeface="+mn-lt"/>
              </a:rPr>
              <a:t>Anomaly Detection </a:t>
            </a:r>
            <a:endParaRPr lang="en-US"/>
          </a:p>
          <a:p>
            <a:pPr marL="285750" indent="-285750" algn="just">
              <a:buFont typeface="Arial"/>
              <a:buChar char="•"/>
            </a:pPr>
            <a:r>
              <a:rPr lang="en-US">
                <a:ea typeface="+mn-lt"/>
                <a:cs typeface="+mn-lt"/>
              </a:rPr>
              <a:t>Feature Extraction </a:t>
            </a:r>
            <a:endParaRPr lang="en-US"/>
          </a:p>
          <a:p>
            <a:pPr marL="285750" indent="-285750" algn="just">
              <a:buFont typeface="Arial"/>
              <a:buChar char="•"/>
            </a:pPr>
            <a:r>
              <a:rPr lang="en-US">
                <a:ea typeface="+mn-lt"/>
                <a:cs typeface="+mn-lt"/>
              </a:rPr>
              <a:t>Sentiment Analysis </a:t>
            </a:r>
            <a:endParaRPr lang="en-US"/>
          </a:p>
          <a:p>
            <a:pPr algn="just"/>
            <a:endParaRPr lang="en-US" dirty="0">
              <a:cs typeface="Arial"/>
            </a:endParaRPr>
          </a:p>
        </p:txBody>
      </p:sp>
    </p:spTree>
    <p:extLst>
      <p:ext uri="{BB962C8B-B14F-4D97-AF65-F5344CB8AC3E}">
        <p14:creationId xmlns:p14="http://schemas.microsoft.com/office/powerpoint/2010/main" val="345160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ABE47-6C86-90EF-0FDE-32A60BB22512}"/>
              </a:ext>
            </a:extLst>
          </p:cNvPr>
          <p:cNvSpPr>
            <a:spLocks noGrp="1"/>
          </p:cNvSpPr>
          <p:nvPr>
            <p:ph type="title"/>
          </p:nvPr>
        </p:nvSpPr>
        <p:spPr>
          <a:xfrm>
            <a:off x="1282045" y="0"/>
            <a:ext cx="5486040" cy="914040"/>
          </a:xfrm>
        </p:spPr>
        <p:txBody>
          <a:bodyPr/>
          <a:lstStyle/>
          <a:p>
            <a:r>
              <a:rPr lang="en-IN" dirty="0"/>
              <a:t> </a:t>
            </a:r>
          </a:p>
        </p:txBody>
      </p:sp>
      <p:sp>
        <p:nvSpPr>
          <p:cNvPr id="4" name="TextShape 1">
            <a:extLst>
              <a:ext uri="{FF2B5EF4-FFF2-40B4-BE49-F238E27FC236}">
                <a16:creationId xmlns:a16="http://schemas.microsoft.com/office/drawing/2014/main" id="{4834DCD7-9E4F-F1DD-07AA-6592613A8386}"/>
              </a:ext>
            </a:extLst>
          </p:cNvPr>
          <p:cNvSpPr txBox="1">
            <a:spLocks/>
          </p:cNvSpPr>
          <p:nvPr/>
        </p:nvSpPr>
        <p:spPr>
          <a:xfrm>
            <a:off x="1282045" y="-360"/>
            <a:ext cx="4194196" cy="813160"/>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  Result</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0AA705D-2D33-769A-455E-EBFCB91B9EFC}"/>
              </a:ext>
            </a:extLst>
          </p:cNvPr>
          <p:cNvSpPr txBox="1"/>
          <p:nvPr/>
        </p:nvSpPr>
        <p:spPr>
          <a:xfrm>
            <a:off x="258348" y="1140315"/>
            <a:ext cx="851052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The experimental results demonstrate the effectiveness of the proposed AI-based cyber threat detection system. The model was tested on a dataset of 100,000 social media posts containing both malicious and normal content. The NLP-based model achieved an accuracy of 92.3%, with precision of 91.8%, recall of 90.5%, and F1-score of 91.1%.</a:t>
            </a:r>
            <a:endParaRPr lang="en-US"/>
          </a:p>
          <a:p>
            <a:pPr algn="just"/>
            <a:r>
              <a:rPr lang="en-US" dirty="0">
                <a:ea typeface="+mn-lt"/>
                <a:cs typeface="+mn-lt"/>
              </a:rPr>
              <a:t>The use of transformer-based models like BERT significantly improved contextual understanding and reduced false positives by 14.7%. Anomaly detection techniques achieved an accuracy of 89.6% in identifying suspicious activities, while deep learning models detected deepfake content with an accuracy of 93.5%. The system also demonstrated real-time performance with an average response time of 1.2 seconds, making it highly effective for practical applications. </a:t>
            </a:r>
          </a:p>
          <a:p>
            <a:pPr algn="l"/>
            <a:endParaRPr lang="en-US" dirty="0"/>
          </a:p>
        </p:txBody>
      </p:sp>
    </p:spTree>
    <p:extLst>
      <p:ext uri="{BB962C8B-B14F-4D97-AF65-F5344CB8AC3E}">
        <p14:creationId xmlns:p14="http://schemas.microsoft.com/office/powerpoint/2010/main" val="1241181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1E72A-4519-52F3-1BAC-02FC6232D41E}"/>
              </a:ext>
            </a:extLst>
          </p:cNvPr>
          <p:cNvSpPr>
            <a:spLocks noGrp="1"/>
          </p:cNvSpPr>
          <p:nvPr>
            <p:ph type="title"/>
          </p:nvPr>
        </p:nvSpPr>
        <p:spPr>
          <a:xfrm>
            <a:off x="1645920" y="18854"/>
            <a:ext cx="3749040" cy="814266"/>
          </a:xfrm>
        </p:spPr>
        <p:txBody>
          <a:bodyPr/>
          <a:lstStyle/>
          <a:p>
            <a:r>
              <a:rPr lang="en-IN" dirty="0"/>
              <a:t>   </a:t>
            </a:r>
          </a:p>
        </p:txBody>
      </p:sp>
      <p:sp>
        <p:nvSpPr>
          <p:cNvPr id="4" name="TextShape 1">
            <a:extLst>
              <a:ext uri="{FF2B5EF4-FFF2-40B4-BE49-F238E27FC236}">
                <a16:creationId xmlns:a16="http://schemas.microsoft.com/office/drawing/2014/main" id="{89463B4E-D847-A26B-4D3C-417C505BF7EC}"/>
              </a:ext>
            </a:extLst>
          </p:cNvPr>
          <p:cNvSpPr txBox="1">
            <a:spLocks/>
          </p:cNvSpPr>
          <p:nvPr/>
        </p:nvSpPr>
        <p:spPr>
          <a:xfrm>
            <a:off x="1534161" y="19960"/>
            <a:ext cx="4124960" cy="813160"/>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Conclusion</a:t>
            </a:r>
            <a:endParaRPr lang="en-US" sz="3000" spc="-1" dirty="0">
              <a:solidFill>
                <a:srgbClr val="00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B4D0B0E-C08E-EDE6-BCE6-72D141C38E85}"/>
              </a:ext>
            </a:extLst>
          </p:cNvPr>
          <p:cNvSpPr txBox="1"/>
          <p:nvPr/>
        </p:nvSpPr>
        <p:spPr>
          <a:xfrm>
            <a:off x="450926" y="1325451"/>
            <a:ext cx="810301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t>This research demonstrates that AI-based techniques can significantly enhance cyber threat detection on social media platforms. By integrating machine learning, NLP, deep learning, and anomaly detection methods, the proposed system achieves high accuracy and real-time performance. The system effectively detects various types of threats, including phishing, misinformation, and bot activity.</a:t>
            </a:r>
          </a:p>
          <a:p>
            <a:pPr algn="just"/>
            <a:r>
              <a:rPr lang="en-US" dirty="0"/>
              <a:t>However, challenges such as evolving cyber threats, high computational requirements, and privacy concerns still exist. Future improvements should focus on developing adaptive learning models, improving scalability, and ensuring ethical use of data. Overall, the proposed system provides a strong foundation for building advanced cybersecurity solutions for modern digital environments. </a:t>
            </a:r>
          </a:p>
        </p:txBody>
      </p:sp>
    </p:spTree>
    <p:extLst>
      <p:ext uri="{BB962C8B-B14F-4D97-AF65-F5344CB8AC3E}">
        <p14:creationId xmlns:p14="http://schemas.microsoft.com/office/powerpoint/2010/main" val="3345900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100742B-9A65-1590-E7BE-433F95458F9F}"/>
              </a:ext>
            </a:extLst>
          </p:cNvPr>
          <p:cNvSpPr txBox="1"/>
          <p:nvPr/>
        </p:nvSpPr>
        <p:spPr>
          <a:xfrm>
            <a:off x="342617" y="1285860"/>
            <a:ext cx="8301761" cy="4524315"/>
          </a:xfrm>
          <a:prstGeom prst="rect">
            <a:avLst/>
          </a:prstGeom>
          <a:noFill/>
        </p:spPr>
        <p:txBody>
          <a:bodyPr wrap="square" lIns="91440" tIns="45720" rIns="91440" bIns="45720" anchor="t">
            <a:spAutoFit/>
          </a:bodyPr>
          <a:lstStyle/>
          <a:p>
            <a:pPr marL="342900" indent="-342900">
              <a:buAutoNum type="arabicPeriod"/>
            </a:pPr>
            <a:r>
              <a:rPr lang="en-US">
                <a:ea typeface="+mn-lt"/>
                <a:cs typeface="+mn-lt"/>
              </a:rPr>
              <a:t>R. Rachidi et al., “Revealing Online Threats Through Leveraging RNN Models for Advanced Cyberbullying Detection,” 2024.</a:t>
            </a:r>
            <a:endParaRPr lang="en-US" dirty="0">
              <a:ea typeface="+mn-lt"/>
              <a:cs typeface="+mn-lt"/>
            </a:endParaRPr>
          </a:p>
          <a:p>
            <a:pPr marL="342900" indent="-342900">
              <a:buAutoNum type="arabicPeriod"/>
            </a:pPr>
            <a:r>
              <a:rPr lang="en-US" dirty="0">
                <a:ea typeface="+mn-lt"/>
                <a:cs typeface="+mn-lt"/>
              </a:rPr>
              <a:t>R. A. </a:t>
            </a:r>
            <a:r>
              <a:rPr lang="en-US" dirty="0" err="1">
                <a:ea typeface="+mn-lt"/>
                <a:cs typeface="+mn-lt"/>
              </a:rPr>
              <a:t>Ellinitakis</a:t>
            </a:r>
            <a:r>
              <a:rPr lang="en-US" dirty="0">
                <a:ea typeface="+mn-lt"/>
                <a:cs typeface="+mn-lt"/>
              </a:rPr>
              <a:t> et al., “Uncovering Hidden Threats: Machine Learning-based Cyber Threat Intelligence from Online Sources,” 2024.</a:t>
            </a:r>
          </a:p>
          <a:p>
            <a:pPr marL="342900" indent="-342900">
              <a:buAutoNum type="arabicPeriod"/>
            </a:pPr>
            <a:r>
              <a:rPr lang="en-US">
                <a:ea typeface="+mn-lt"/>
                <a:cs typeface="+mn-lt"/>
              </a:rPr>
              <a:t>Y. S. Kumar and A. Mary Sowjanya, “Ensemble Models for Cyber Attacks Detection on Multiple Datasets,” 2024.</a:t>
            </a:r>
          </a:p>
          <a:p>
            <a:pPr marL="342900" indent="-342900">
              <a:buAutoNum type="arabicPeriod"/>
            </a:pPr>
            <a:r>
              <a:rPr lang="en-US">
                <a:ea typeface="+mn-lt"/>
                <a:cs typeface="+mn-lt"/>
              </a:rPr>
              <a:t>J. Khoury et al., “An Internet-Scale Data-Driven Approach for Exploring Cyber Threats Amid Global Conflicts,” 2025.</a:t>
            </a:r>
          </a:p>
          <a:p>
            <a:pPr marL="342900" indent="-342900">
              <a:buAutoNum type="arabicPeriod"/>
            </a:pPr>
            <a:r>
              <a:rPr lang="en-US" dirty="0">
                <a:ea typeface="+mn-lt"/>
                <a:cs typeface="+mn-lt"/>
              </a:rPr>
              <a:t>M. A. Al-</a:t>
            </a:r>
            <a:r>
              <a:rPr lang="en-US" dirty="0" err="1">
                <a:ea typeface="+mn-lt"/>
                <a:cs typeface="+mn-lt"/>
              </a:rPr>
              <a:t>Khasawneh</a:t>
            </a:r>
            <a:r>
              <a:rPr lang="en-US" dirty="0">
                <a:ea typeface="+mn-lt"/>
                <a:cs typeface="+mn-lt"/>
              </a:rPr>
              <a:t> et al., “Multi-Modal Approach for Cyberbullying Detection in Social Networks,” 2024.</a:t>
            </a:r>
          </a:p>
          <a:p>
            <a:pPr marL="342900" indent="-342900">
              <a:buAutoNum type="arabicPeriod"/>
            </a:pPr>
            <a:r>
              <a:rPr lang="en-US">
                <a:ea typeface="+mn-lt"/>
                <a:cs typeface="+mn-lt"/>
              </a:rPr>
              <a:t>S. Dontu et al., “Cybersecurity Framework for Botnet Attack Detection using Attention Recurrent Autoencoder,” 2024.</a:t>
            </a:r>
          </a:p>
          <a:p>
            <a:pPr marL="342900" indent="-342900">
              <a:buAutoNum type="arabicPeriod"/>
            </a:pPr>
            <a:r>
              <a:rPr lang="en-US" dirty="0">
                <a:ea typeface="+mn-lt"/>
                <a:cs typeface="+mn-lt"/>
              </a:rPr>
              <a:t>H. </a:t>
            </a:r>
            <a:r>
              <a:rPr lang="en-US" dirty="0" err="1">
                <a:ea typeface="+mn-lt"/>
                <a:cs typeface="+mn-lt"/>
              </a:rPr>
              <a:t>Kibriya</a:t>
            </a:r>
            <a:r>
              <a:rPr lang="en-US" dirty="0">
                <a:ea typeface="+mn-lt"/>
                <a:cs typeface="+mn-lt"/>
              </a:rPr>
              <a:t> et al., “Explainable AI for Hate Speech Detection and Classification,” 2024.</a:t>
            </a:r>
          </a:p>
          <a:p>
            <a:pPr marL="285750" indent="-285750">
              <a:buAutoNum type="arabicPeriod"/>
            </a:pPr>
            <a:endParaRPr lang="en-US" dirty="0">
              <a:ea typeface="+mn-lt"/>
              <a:cs typeface="+mn-lt"/>
            </a:endParaRPr>
          </a:p>
          <a:p>
            <a:pPr>
              <a:spcBef>
                <a:spcPct val="0"/>
              </a:spcBef>
              <a:spcAft>
                <a:spcPct val="0"/>
              </a:spcAft>
            </a:pPr>
            <a:endParaRPr lang="en-US" altLang="en-US" dirty="0">
              <a:latin typeface="Times New Roman"/>
              <a:cs typeface="Times New Roman"/>
            </a:endParaRPr>
          </a:p>
        </p:txBody>
      </p:sp>
      <p:sp>
        <p:nvSpPr>
          <p:cNvPr id="11" name="TextShape 1">
            <a:extLst>
              <a:ext uri="{FF2B5EF4-FFF2-40B4-BE49-F238E27FC236}">
                <a16:creationId xmlns:a16="http://schemas.microsoft.com/office/drawing/2014/main" id="{ECF263EE-491F-00F4-07FF-A80CA270C8CD}"/>
              </a:ext>
            </a:extLst>
          </p:cNvPr>
          <p:cNvSpPr txBox="1">
            <a:spLocks noGrp="1"/>
          </p:cNvSpPr>
          <p:nvPr>
            <p:ph type="title"/>
          </p:nvPr>
        </p:nvSpPr>
        <p:spPr>
          <a:xfrm>
            <a:off x="735291" y="-1"/>
            <a:ext cx="5486400" cy="829559"/>
          </a:xfrm>
          <a:prstGeom prst="rect">
            <a:avLst/>
          </a:prstGeom>
          <a:noFill/>
          <a:ln w="9360">
            <a:noFill/>
          </a:ln>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References </a:t>
            </a:r>
            <a:endParaRPr lang="en-US" sz="3000"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54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34791</TotalTime>
  <Words>861</Words>
  <Application>Microsoft Office PowerPoint</Application>
  <PresentationFormat>On-screen Show (4:3)</PresentationFormat>
  <Paragraphs>58</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Problem Statement</vt:lpstr>
      <vt:lpstr>         </vt:lpstr>
      <vt:lpstr>         </vt:lpstr>
      <vt:lpstr> </vt:lpstr>
      <vt:lpstr>   </vt:lpstr>
      <vt:lpstr>References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Taney Sharma</cp:lastModifiedBy>
  <cp:revision>2414</cp:revision>
  <dcterms:created xsi:type="dcterms:W3CDTF">2010-04-09T07:36:15Z</dcterms:created>
  <dcterms:modified xsi:type="dcterms:W3CDTF">2026-05-15T06:19:57Z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